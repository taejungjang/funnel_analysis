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79" r:id="rId10"/>
    <p:sldId id="267" r:id="rId11"/>
    <p:sldId id="266" r:id="rId12"/>
    <p:sldId id="278" r:id="rId13"/>
    <p:sldId id="280" r:id="rId14"/>
    <p:sldId id="268" r:id="rId15"/>
    <p:sldId id="269" r:id="rId16"/>
    <p:sldId id="270" r:id="rId17"/>
    <p:sldId id="272" r:id="rId18"/>
    <p:sldId id="282" r:id="rId19"/>
    <p:sldId id="273" r:id="rId20"/>
    <p:sldId id="281" r:id="rId21"/>
    <p:sldId id="275" r:id="rId22"/>
    <p:sldId id="277" r:id="rId23"/>
    <p:sldId id="274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4D98DF-084D-D784-1DE1-0F353FEB8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F7DA2B-DFA0-9B6A-679F-87EEB7902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B20A12-E2ED-6516-1F97-66EC2FAF9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6835-5083-4AAF-882B-0750B69891F4}" type="datetimeFigureOut">
              <a:rPr lang="ko-KR" altLang="en-US" smtClean="0"/>
              <a:t>2026-01-22(Thursday)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A6CDA2-542A-CF76-3180-71FB92A5E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455261-BD6A-3E2B-09BF-D5D3498F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EBC85-B614-4BF7-9573-B0AF809B9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487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2FC45E-4C7D-B4A4-6B48-F68B761B8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3AF934-F315-E50E-28CA-15224E1AB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84A758-898E-4BDD-3F09-C8168886B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6835-5083-4AAF-882B-0750B69891F4}" type="datetimeFigureOut">
              <a:rPr lang="ko-KR" altLang="en-US" smtClean="0"/>
              <a:t>2026-01-22(Thursday)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9537A-438D-5F84-87E8-54160855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D27BA0-ED1B-269B-4A64-E675D07B3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EBC85-B614-4BF7-9573-B0AF809B9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08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A3204-9AF3-7A47-1E9C-7239A3F9E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D18B86-0DC5-7C03-DDCA-F6B4EC4A3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56269-F517-075D-3D1A-47B26588D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6835-5083-4AAF-882B-0750B69891F4}" type="datetimeFigureOut">
              <a:rPr lang="ko-KR" altLang="en-US" smtClean="0"/>
              <a:t>2026-01-22(Thursday)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FC3C50-C9F8-6CEE-6332-14AFA9580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0823B3-D923-88B5-7FFC-06632D69D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EBC85-B614-4BF7-9573-B0AF809B9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22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4CBC1C-7DCF-2A75-2B0F-8773A850A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8F12BB-068B-278C-1D8F-AF9B970D4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FFF272-F2DD-0F37-3C40-1A58EEB4E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C54888-EF96-ECB0-1804-175AE59D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6835-5083-4AAF-882B-0750B69891F4}" type="datetimeFigureOut">
              <a:rPr lang="ko-KR" altLang="en-US" smtClean="0"/>
              <a:t>2026-01-22(Thursday)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A67228-E3BB-B20C-9DAE-919EE2833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E2715A-E653-2E1C-F87A-4A0C2AB8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EBC85-B614-4BF7-9573-B0AF809B9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220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000EEC-1658-194B-CF29-650C9F517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EA15F9-AC80-B91B-C8D7-11390E17C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F05DCC-324B-985C-E4D2-C3FB27AA7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DAB8A5B-C2A7-307E-5EC8-F50E4535AA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9DC1EDE-8353-D061-1030-AB74C40189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EE6A7B-26C9-CDD9-99AE-D9BEEB1BE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6835-5083-4AAF-882B-0750B69891F4}" type="datetimeFigureOut">
              <a:rPr lang="ko-KR" altLang="en-US" smtClean="0"/>
              <a:t>2026-01-22(Thursday)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26BD27-AD89-DE29-E4EE-5EC0D9F36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D57FD2-5BA4-029F-0E93-CE1923E2B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EBC85-B614-4BF7-9573-B0AF809B9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73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5B426-265B-BFA6-6637-B01F058D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C2799E-E7DC-10E5-D823-C25DD15E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6835-5083-4AAF-882B-0750B69891F4}" type="datetimeFigureOut">
              <a:rPr lang="ko-KR" altLang="en-US" smtClean="0"/>
              <a:t>2026-01-22(Thursday)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C1B926-9EA8-C9AF-53C9-CFDEA8AF3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7AF15E-5CCE-6C13-4AF3-C14638B2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EBC85-B614-4BF7-9573-B0AF809B9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47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22B833-E407-F21B-CB79-D596A863E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6835-5083-4AAF-882B-0750B69891F4}" type="datetimeFigureOut">
              <a:rPr lang="ko-KR" altLang="en-US" smtClean="0"/>
              <a:t>2026-01-22(Thursday)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5FFD60-BF60-398A-CA70-A32F246E5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AF6854-AFB3-BE73-6F74-C4ADB5E3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EBC85-B614-4BF7-9573-B0AF809B9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451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B3C68A-8305-0B37-9185-734E56A7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567070-3055-4D57-26D2-A0B462D2F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32E9F7-AFCA-880A-9812-7468D74C2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E91B64-73ED-E4A0-AA29-0D679AE2C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6835-5083-4AAF-882B-0750B69891F4}" type="datetimeFigureOut">
              <a:rPr lang="ko-KR" altLang="en-US" smtClean="0"/>
              <a:t>2026-01-22(Thursday)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5CDECA-D0E3-AF4F-CF7E-1F22650BA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6E3816-11C7-3B27-11E5-B4A399B72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EBC85-B614-4BF7-9573-B0AF809B9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16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B4A3B9-40CC-62CA-A320-98B1E0C7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1F3923-971C-A600-C90B-ABCAB6B5E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6DD51A-0B68-E7EC-5BE9-6C07A16E2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71BD61-9AC8-C84D-8168-CA903E8E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6835-5083-4AAF-882B-0750B69891F4}" type="datetimeFigureOut">
              <a:rPr lang="ko-KR" altLang="en-US" smtClean="0"/>
              <a:t>2026-01-22(Thursday)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0D3622-63C1-0220-60D1-EAB7AE879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F4B85F-F21B-22BE-1A14-8B90CEE0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EBC85-B614-4BF7-9573-B0AF809B9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2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904BE-1091-4A98-80AC-B65A388D7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63468C0-ED31-288A-2806-CBB84FBA1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9DB708-C656-D787-325F-F6D8C5999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6835-5083-4AAF-882B-0750B69891F4}" type="datetimeFigureOut">
              <a:rPr lang="ko-KR" altLang="en-US" smtClean="0"/>
              <a:t>2026-01-22(Thursday)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D0C481-F516-8349-0755-4B40CE2A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E01849-4E2C-AF3A-9E9D-0B682CAD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EBC85-B614-4BF7-9573-B0AF809B9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92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38EB0E-5F28-30DD-4081-7A8276BE3F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53E92F-E42A-B87D-B1DB-F7225923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2A1733-92BE-7ED5-BF17-6CFA96B1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6835-5083-4AAF-882B-0750B69891F4}" type="datetimeFigureOut">
              <a:rPr lang="ko-KR" altLang="en-US" smtClean="0"/>
              <a:t>2026-01-22(Thursday)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E91577-95E7-45B5-499B-0F881D2A3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6126CE-546E-01D0-EEB7-85E10E4E5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EBC85-B614-4BF7-9573-B0AF809B9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150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0CCF900-9FAD-F610-4A76-0C5E06ABF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EA05B7-904F-1291-9775-CDD409E37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73837-670E-8E6D-1B4D-67E4E3123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16835-5083-4AAF-882B-0750B69891F4}" type="datetimeFigureOut">
              <a:rPr lang="ko-KR" altLang="en-US" smtClean="0"/>
              <a:t>2026-01-22(Thursday)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B13C66-8B46-745C-0127-7AEDBD2247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DFDD4-ED2C-721E-3FD0-6F0DD1E54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EBC85-B614-4BF7-9573-B0AF809B9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54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hop.googlemerchandisestore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F5E3C-6CE0-AEB7-034F-F2FBD6EE1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28569"/>
            <a:ext cx="9144000" cy="894582"/>
          </a:xfrm>
        </p:spPr>
        <p:txBody>
          <a:bodyPr>
            <a:normAutofit/>
          </a:bodyPr>
          <a:lstStyle/>
          <a:p>
            <a:r>
              <a:rPr lang="ko-KR" altLang="en-US" sz="4000" dirty="0" err="1"/>
              <a:t>이커머스</a:t>
            </a:r>
            <a:r>
              <a:rPr lang="ko-KR" altLang="en-US" sz="4000" dirty="0"/>
              <a:t> 로그데이터를 통한 </a:t>
            </a:r>
            <a:r>
              <a:rPr lang="ko-KR" altLang="en-US" sz="4000" dirty="0" err="1"/>
              <a:t>퍼널</a:t>
            </a:r>
            <a:r>
              <a:rPr lang="ko-KR" altLang="en-US" sz="4000" dirty="0"/>
              <a:t> 분석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35E926-362E-B18B-E57A-EF37E8DE7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14761"/>
            <a:ext cx="9144000" cy="1655762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장태중</a:t>
            </a:r>
          </a:p>
        </p:txBody>
      </p:sp>
    </p:spTree>
    <p:extLst>
      <p:ext uri="{BB962C8B-B14F-4D97-AF65-F5344CB8AC3E}">
        <p14:creationId xmlns:p14="http://schemas.microsoft.com/office/powerpoint/2010/main" val="972014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4448E0-8E91-C125-35CE-CA54290C7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55F9B4-28A0-A9AD-3279-CE8F673FE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온라인 매장에서는 구매까지 여러 과정이 존재한다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단순히 구매율로 보면 중간 과정을 놓치게 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구매 과정 중 어느 지점에서 어려움이 있는지 세분화 한다면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단순 구매율 증가라는 목표에서 벗어나 특정부분 </a:t>
            </a:r>
            <a:r>
              <a:rPr lang="en-US" altLang="ko-KR" sz="2000" dirty="0" err="1"/>
              <a:t>ux</a:t>
            </a:r>
            <a:r>
              <a:rPr lang="ko-KR" altLang="en-US" sz="2000" dirty="0"/>
              <a:t>개선 등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여러가지 진단이 가능할 것이라 본다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이에 따라 </a:t>
            </a:r>
            <a:r>
              <a:rPr lang="ko-KR" altLang="en-US" sz="2000" dirty="0" err="1"/>
              <a:t>이커머스</a:t>
            </a:r>
            <a:r>
              <a:rPr lang="ko-KR" altLang="en-US" sz="2000" dirty="0"/>
              <a:t> 로그데이터를 활용한 </a:t>
            </a:r>
            <a:r>
              <a:rPr lang="ko-KR" altLang="en-US" sz="2000" dirty="0" err="1"/>
              <a:t>퍼널분석을</a:t>
            </a:r>
            <a:r>
              <a:rPr lang="ko-KR" altLang="en-US" sz="2000" dirty="0"/>
              <a:t> 통해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구매로 이어지는 단계별 전환율을 파악하고자 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2766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D6EEE4-6718-6EB4-1D2F-B962C890C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98A261-6FB0-A583-E1B8-104BA7BCD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데이터 명 </a:t>
            </a:r>
            <a:r>
              <a:rPr lang="en-US" altLang="ko-KR" sz="2000" dirty="0"/>
              <a:t>: ga4_obfuscated_sample_ecommerce</a:t>
            </a:r>
          </a:p>
          <a:p>
            <a:pPr marL="0" indent="0">
              <a:buNone/>
            </a:pPr>
            <a:r>
              <a:rPr lang="en-US" altLang="ko-KR" sz="2000" dirty="0"/>
              <a:t>- Google </a:t>
            </a:r>
            <a:r>
              <a:rPr lang="ko-KR" altLang="en-US" sz="2000" dirty="0"/>
              <a:t>브랜드의 상품을 판매하는 온라인 상점인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en-US" altLang="ko-KR" sz="2000" dirty="0">
                <a:hlinkClick r:id="rId2"/>
              </a:rPr>
              <a:t>Google Merchandise Store</a:t>
            </a:r>
            <a:r>
              <a:rPr lang="ko-KR" altLang="en-US" sz="2000" dirty="0"/>
              <a:t>의 이벤트로그 데이터샘플이다</a:t>
            </a:r>
            <a:r>
              <a:rPr lang="en-US" altLang="ko-KR" sz="2000" dirty="0"/>
              <a:t>.</a:t>
            </a:r>
          </a:p>
          <a:p>
            <a:pPr>
              <a:buFontTx/>
              <a:buChar char="-"/>
            </a:pPr>
            <a:r>
              <a:rPr lang="ko-KR" altLang="en-US" sz="2000" dirty="0"/>
              <a:t>시간적 범위 </a:t>
            </a:r>
            <a:r>
              <a:rPr lang="en-US" altLang="ko-KR" sz="2000" dirty="0"/>
              <a:t>: 2020/11/01 – 2021/01/31 (3</a:t>
            </a:r>
            <a:r>
              <a:rPr lang="ko-KR" altLang="en-US" sz="2000" dirty="0"/>
              <a:t>개월</a:t>
            </a:r>
            <a:r>
              <a:rPr lang="en-US" altLang="ko-KR" sz="2000" dirty="0"/>
              <a:t>)</a:t>
            </a:r>
          </a:p>
          <a:p>
            <a:pPr>
              <a:buFontTx/>
              <a:buChar char="-"/>
            </a:pPr>
            <a:r>
              <a:rPr lang="ko-KR" altLang="en-US" sz="2000" dirty="0"/>
              <a:t>주요 컬럼 </a:t>
            </a:r>
            <a:r>
              <a:rPr lang="en-US" altLang="ko-KR" sz="2000" dirty="0"/>
              <a:t>: </a:t>
            </a:r>
          </a:p>
          <a:p>
            <a:pPr>
              <a:buFontTx/>
              <a:buChar char="-"/>
            </a:pPr>
            <a:r>
              <a:rPr lang="en-US" altLang="ko-KR" sz="2000" dirty="0" err="1"/>
              <a:t>event_name</a:t>
            </a:r>
            <a:r>
              <a:rPr lang="en-US" altLang="ko-KR" sz="2000" dirty="0"/>
              <a:t> (</a:t>
            </a:r>
            <a:r>
              <a:rPr lang="en-US" altLang="ko-KR" sz="2000" dirty="0" err="1"/>
              <a:t>session_start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purchase </a:t>
            </a:r>
            <a:r>
              <a:rPr lang="ko-KR" altLang="en-US" sz="2000" dirty="0"/>
              <a:t>등</a:t>
            </a:r>
            <a:r>
              <a:rPr lang="en-US" altLang="ko-KR" sz="2000" dirty="0"/>
              <a:t>)</a:t>
            </a:r>
            <a:r>
              <a:rPr lang="ko-KR" altLang="en-US" sz="2000" dirty="0"/>
              <a:t> 구매과정시 나올 수 있는 이벤트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en-US" altLang="ko-KR" sz="2000" dirty="0" err="1"/>
              <a:t>user_pseudo_id</a:t>
            </a:r>
            <a:r>
              <a:rPr lang="en-US" altLang="ko-KR" sz="2000" dirty="0"/>
              <a:t> : </a:t>
            </a:r>
            <a:r>
              <a:rPr lang="ko-KR" altLang="en-US" sz="2000" dirty="0"/>
              <a:t>세션단위가 아닌 각 사용자 </a:t>
            </a:r>
            <a:r>
              <a:rPr lang="ko-KR" altLang="en-US" sz="2000" dirty="0" err="1"/>
              <a:t>고유값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509908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6D3BE-7D55-CE92-5FEE-0121C8B64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웹사이트 구매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D6DFA6-29D5-40D8-59B8-898F4FCDC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1. </a:t>
            </a:r>
            <a:r>
              <a:rPr lang="ko-KR" altLang="en-US" sz="2000" dirty="0"/>
              <a:t>방문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2. </a:t>
            </a:r>
            <a:r>
              <a:rPr lang="ko-KR" altLang="en-US" sz="2000" dirty="0"/>
              <a:t>아이템 확인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3. </a:t>
            </a:r>
            <a:r>
              <a:rPr lang="ko-KR" altLang="en-US" sz="2000" dirty="0"/>
              <a:t>장바구니 담기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4. </a:t>
            </a:r>
            <a:r>
              <a:rPr lang="ko-KR" altLang="en-US" sz="2000" dirty="0"/>
              <a:t>로그인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5. </a:t>
            </a:r>
            <a:r>
              <a:rPr lang="ko-KR" altLang="en-US" sz="2000" dirty="0"/>
              <a:t>결제 버튼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6.</a:t>
            </a:r>
            <a:r>
              <a:rPr lang="ko-KR" altLang="en-US" sz="2000" dirty="0"/>
              <a:t> 주소입력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7. </a:t>
            </a:r>
            <a:r>
              <a:rPr lang="ko-KR" altLang="en-US" sz="2000" dirty="0"/>
              <a:t>지불 방식 선택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8. </a:t>
            </a:r>
            <a:r>
              <a:rPr lang="ko-KR" altLang="en-US" sz="2000" dirty="0"/>
              <a:t>최종구매 버튼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284639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57C02E6F-C6B2-26A3-F94D-B51C45049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" name="그림 10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0CF4C8-54EB-3BB2-368C-9DADCACD6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7308"/>
            <a:ext cx="12121732" cy="55279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E87680-540A-28FF-03DF-2DA9DFD478F5}"/>
              </a:ext>
            </a:extLst>
          </p:cNvPr>
          <p:cNvSpPr txBox="1"/>
          <p:nvPr/>
        </p:nvSpPr>
        <p:spPr>
          <a:xfrm>
            <a:off x="255639" y="324465"/>
            <a:ext cx="4798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방문</a:t>
            </a:r>
          </a:p>
        </p:txBody>
      </p:sp>
    </p:spTree>
    <p:extLst>
      <p:ext uri="{BB962C8B-B14F-4D97-AF65-F5344CB8AC3E}">
        <p14:creationId xmlns:p14="http://schemas.microsoft.com/office/powerpoint/2010/main" val="136346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3D1E56-DED7-AC79-5D13-7429CDDAC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93DEE3-200C-C419-DD67-F3E267164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4838"/>
            <a:ext cx="12192000" cy="5472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BF2F50-B4E7-4B5F-B36A-A39A77F0E9F5}"/>
              </a:ext>
            </a:extLst>
          </p:cNvPr>
          <p:cNvSpPr txBox="1"/>
          <p:nvPr/>
        </p:nvSpPr>
        <p:spPr>
          <a:xfrm>
            <a:off x="255639" y="324465"/>
            <a:ext cx="4798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2. </a:t>
            </a:r>
            <a:r>
              <a:rPr lang="ko-KR" altLang="en-US" sz="3200" dirty="0"/>
              <a:t>아이템 확인</a:t>
            </a:r>
          </a:p>
        </p:txBody>
      </p:sp>
    </p:spTree>
    <p:extLst>
      <p:ext uri="{BB962C8B-B14F-4D97-AF65-F5344CB8AC3E}">
        <p14:creationId xmlns:p14="http://schemas.microsoft.com/office/powerpoint/2010/main" val="403171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F11564-16A5-4ABE-65F1-0F01EF33D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의류, 소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44D2FA-6951-E947-2EF3-DA24093AA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" y="1315006"/>
            <a:ext cx="12192000" cy="5542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798AC8-2EB1-F042-96B5-47DF4304AE75}"/>
              </a:ext>
            </a:extLst>
          </p:cNvPr>
          <p:cNvSpPr txBox="1"/>
          <p:nvPr/>
        </p:nvSpPr>
        <p:spPr>
          <a:xfrm>
            <a:off x="255639" y="324465"/>
            <a:ext cx="4798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3. </a:t>
            </a:r>
            <a:r>
              <a:rPr lang="ko-KR" altLang="en-US" sz="3200" dirty="0"/>
              <a:t>장바구니에 담기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4E153B-63A5-A68B-99CD-3295E6A2D5F8}"/>
              </a:ext>
            </a:extLst>
          </p:cNvPr>
          <p:cNvSpPr/>
          <p:nvPr/>
        </p:nvSpPr>
        <p:spPr>
          <a:xfrm>
            <a:off x="6708542" y="5685350"/>
            <a:ext cx="2841523" cy="491613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883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1E579-1C92-DB67-B964-874DAB0CF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35BD8C-B240-9B3F-2DE4-FE5963DF2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8654"/>
            <a:ext cx="12192000" cy="5559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E03F17-88A3-398B-CCCD-128B2E131D4F}"/>
              </a:ext>
            </a:extLst>
          </p:cNvPr>
          <p:cNvSpPr txBox="1"/>
          <p:nvPr/>
        </p:nvSpPr>
        <p:spPr>
          <a:xfrm>
            <a:off x="255639" y="324465"/>
            <a:ext cx="4798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4. </a:t>
            </a:r>
            <a:r>
              <a:rPr lang="ko-KR" altLang="en-US" sz="3200" dirty="0"/>
              <a:t>로그인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A33FB2-9C50-6821-F8A4-9585403C3E30}"/>
              </a:ext>
            </a:extLst>
          </p:cNvPr>
          <p:cNvSpPr/>
          <p:nvPr/>
        </p:nvSpPr>
        <p:spPr>
          <a:xfrm>
            <a:off x="9232490" y="4148778"/>
            <a:ext cx="2959510" cy="1101648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107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9716BE-704D-261D-836D-E2D0BF843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6F65A3-E93D-6438-969B-2F1AFBE79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" y="1273318"/>
            <a:ext cx="12064181" cy="55846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CE5A6A-5763-FE5B-3AE1-8E19DBA1F231}"/>
              </a:ext>
            </a:extLst>
          </p:cNvPr>
          <p:cNvSpPr txBox="1"/>
          <p:nvPr/>
        </p:nvSpPr>
        <p:spPr>
          <a:xfrm>
            <a:off x="255639" y="324465"/>
            <a:ext cx="4798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5. </a:t>
            </a:r>
            <a:r>
              <a:rPr lang="ko-KR" altLang="en-US" sz="3200" dirty="0"/>
              <a:t>결제버튼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0CEBD7B-A58C-115F-4241-2AE9DA200E99}"/>
              </a:ext>
            </a:extLst>
          </p:cNvPr>
          <p:cNvSpPr/>
          <p:nvPr/>
        </p:nvSpPr>
        <p:spPr>
          <a:xfrm>
            <a:off x="9350477" y="3819852"/>
            <a:ext cx="2841523" cy="491613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244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C3AB1E-1C49-3861-1797-39490EEB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57CE7F-1516-A445-9CFA-2729BD020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9205"/>
            <a:ext cx="12185642" cy="54987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101CD7-3E8E-97E1-303D-1644B1856393}"/>
              </a:ext>
            </a:extLst>
          </p:cNvPr>
          <p:cNvSpPr txBox="1"/>
          <p:nvPr/>
        </p:nvSpPr>
        <p:spPr>
          <a:xfrm>
            <a:off x="255639" y="324465"/>
            <a:ext cx="4798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6. </a:t>
            </a:r>
            <a:r>
              <a:rPr lang="ko-KR" altLang="en-US" sz="3200" dirty="0"/>
              <a:t>주소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159E67-9F7C-683A-EA28-DC21E069EADA}"/>
              </a:ext>
            </a:extLst>
          </p:cNvPr>
          <p:cNvSpPr/>
          <p:nvPr/>
        </p:nvSpPr>
        <p:spPr>
          <a:xfrm>
            <a:off x="592878" y="4719483"/>
            <a:ext cx="3900464" cy="491613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924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84E2F4-2762-1D88-4129-B1E358B47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소프트웨어, 컴퓨터 아이콘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0EF6A2-8229-6C80-AAF7-0D3E7F279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6182"/>
            <a:ext cx="12192000" cy="5541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8088D5-EC1F-BD97-EB38-F5D5260A3699}"/>
              </a:ext>
            </a:extLst>
          </p:cNvPr>
          <p:cNvSpPr txBox="1"/>
          <p:nvPr/>
        </p:nvSpPr>
        <p:spPr>
          <a:xfrm>
            <a:off x="255639" y="324465"/>
            <a:ext cx="4798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7. </a:t>
            </a:r>
            <a:r>
              <a:rPr lang="ko-KR" altLang="en-US" sz="3200" dirty="0"/>
              <a:t>지불방식 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59C5E6-2934-E880-7226-7F3870B4FE36}"/>
              </a:ext>
            </a:extLst>
          </p:cNvPr>
          <p:cNvSpPr/>
          <p:nvPr/>
        </p:nvSpPr>
        <p:spPr>
          <a:xfrm>
            <a:off x="8891304" y="6366387"/>
            <a:ext cx="2841523" cy="491613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C6CE95-875A-1D64-EDBB-C21F5674C1FB}"/>
              </a:ext>
            </a:extLst>
          </p:cNvPr>
          <p:cNvSpPr/>
          <p:nvPr/>
        </p:nvSpPr>
        <p:spPr>
          <a:xfrm>
            <a:off x="2369575" y="2517057"/>
            <a:ext cx="2116878" cy="1494505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874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D97A8-F72C-3BFD-2A41-7348278B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최종구매 버튼 누르기</a:t>
            </a:r>
          </a:p>
        </p:txBody>
      </p:sp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8CFD77-0E6D-9A3B-7BB8-2F1A86CBAE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6696" y="2111476"/>
            <a:ext cx="2690093" cy="413801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F584F16-73F1-7328-8F98-52159D3B7C60}"/>
              </a:ext>
            </a:extLst>
          </p:cNvPr>
          <p:cNvSpPr/>
          <p:nvPr/>
        </p:nvSpPr>
        <p:spPr>
          <a:xfrm>
            <a:off x="4220980" y="5093109"/>
            <a:ext cx="2841523" cy="491613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463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55746-FD4E-1C88-CEF2-46E38933B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퍼널</a:t>
            </a:r>
            <a:r>
              <a:rPr lang="ko-KR" altLang="en-US" dirty="0"/>
              <a:t>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4A3C33-61C7-2905-57DA-25F045FB3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1. page view</a:t>
            </a:r>
          </a:p>
          <a:p>
            <a:pPr marL="0" indent="0">
              <a:buNone/>
            </a:pPr>
            <a:r>
              <a:rPr lang="en-US" altLang="ko-KR" sz="2000" dirty="0"/>
              <a:t>2. view item</a:t>
            </a:r>
          </a:p>
          <a:p>
            <a:pPr marL="0" indent="0">
              <a:buNone/>
            </a:pPr>
            <a:r>
              <a:rPr lang="en-US" altLang="ko-KR" sz="2000" dirty="0"/>
              <a:t>3. add to cart</a:t>
            </a:r>
          </a:p>
          <a:p>
            <a:pPr marL="0" indent="0">
              <a:buNone/>
            </a:pPr>
            <a:r>
              <a:rPr lang="en-US" altLang="ko-KR" sz="2000" dirty="0"/>
              <a:t>4. checkout</a:t>
            </a:r>
          </a:p>
          <a:p>
            <a:pPr marL="0" indent="0">
              <a:buNone/>
            </a:pPr>
            <a:r>
              <a:rPr lang="en-US" altLang="ko-KR" sz="2000" dirty="0"/>
              <a:t>5. add payment info</a:t>
            </a:r>
          </a:p>
          <a:p>
            <a:pPr marL="0" indent="0">
              <a:buNone/>
            </a:pPr>
            <a:r>
              <a:rPr lang="en-US" altLang="ko-KR" sz="2000" dirty="0"/>
              <a:t>6. purchase</a:t>
            </a:r>
          </a:p>
        </p:txBody>
      </p:sp>
    </p:spTree>
    <p:extLst>
      <p:ext uri="{BB962C8B-B14F-4D97-AF65-F5344CB8AC3E}">
        <p14:creationId xmlns:p14="http://schemas.microsoft.com/office/powerpoint/2010/main" val="3315988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45923-94FE-B8D3-66CA-B0FB9C7E6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3F4DE2-89AC-0A87-9543-F2D771844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1. </a:t>
            </a:r>
            <a:r>
              <a:rPr lang="ko-KR" altLang="en-US" sz="2000" dirty="0"/>
              <a:t>이벤트가 날짜별로 테이블이 만들어져 있음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모든 테이블 병합해줌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2. </a:t>
            </a:r>
            <a:r>
              <a:rPr lang="ko-KR" altLang="en-US" sz="2000" dirty="0"/>
              <a:t>세션단위가 아닌 사용자</a:t>
            </a:r>
            <a:r>
              <a:rPr lang="en-US" altLang="ko-KR" sz="2000" dirty="0"/>
              <a:t>(</a:t>
            </a:r>
            <a:r>
              <a:rPr lang="en-US" altLang="ko-KR" sz="2000" dirty="0" err="1"/>
              <a:t>user_pseudo_id</a:t>
            </a:r>
            <a:r>
              <a:rPr lang="en-US" altLang="ko-KR" sz="2000" dirty="0"/>
              <a:t>)</a:t>
            </a:r>
            <a:r>
              <a:rPr lang="ko-KR" altLang="en-US" sz="2000" dirty="0"/>
              <a:t> 기준으로 구매단계 집계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3. </a:t>
            </a:r>
            <a:r>
              <a:rPr lang="ko-KR" altLang="en-US" sz="2000" dirty="0"/>
              <a:t>구매는 했지만 결제정보 입력로그가 없는 등 이전 필수 단계 기록이 누락된 경우가 있음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이 경우 이전단계에도 추가시켜 주어야 함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053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24FA7F-6EA4-D669-0A05-62D2FD23B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40" y="1389598"/>
            <a:ext cx="10323870" cy="5103277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CF349AEA-7091-84DA-26FB-8536759EA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분석 결과</a:t>
            </a:r>
          </a:p>
        </p:txBody>
      </p:sp>
    </p:spTree>
    <p:extLst>
      <p:ext uri="{BB962C8B-B14F-4D97-AF65-F5344CB8AC3E}">
        <p14:creationId xmlns:p14="http://schemas.microsoft.com/office/powerpoint/2010/main" val="2597912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F7FEB-DDE6-A1C3-25D7-F39B0F59A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결과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0FD30C76-A62A-8F74-907E-C6886A13D1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7988477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378261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88260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페이지보기 </a:t>
                      </a:r>
                      <a:r>
                        <a:rPr lang="en-US" altLang="ko-KR" dirty="0"/>
                        <a:t>-&gt; </a:t>
                      </a:r>
                      <a:r>
                        <a:rPr lang="ko-KR" altLang="en-US" dirty="0"/>
                        <a:t>아이템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22.7%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992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아이템조회 </a:t>
                      </a:r>
                      <a:r>
                        <a:rPr lang="en-US" altLang="ko-KR" dirty="0"/>
                        <a:t>-&gt;</a:t>
                      </a:r>
                      <a:r>
                        <a:rPr lang="ko-KR" altLang="en-US" dirty="0"/>
                        <a:t>장바구니 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27.0%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367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장바구니 담기 </a:t>
                      </a:r>
                      <a:r>
                        <a:rPr lang="en-US" altLang="ko-KR" dirty="0"/>
                        <a:t>-&gt;</a:t>
                      </a:r>
                      <a:r>
                        <a:rPr lang="ko-KR" altLang="en-US" dirty="0"/>
                        <a:t>주소입력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58.5%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56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주소입력 </a:t>
                      </a:r>
                      <a:r>
                        <a:rPr lang="en-US" altLang="ko-KR" dirty="0"/>
                        <a:t>-&gt;</a:t>
                      </a:r>
                      <a:r>
                        <a:rPr lang="ko-KR" altLang="en-US" dirty="0"/>
                        <a:t>결제정보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59.1%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083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결제정보 입력 </a:t>
                      </a:r>
                      <a:r>
                        <a:rPr lang="en-US" altLang="ko-KR" dirty="0"/>
                        <a:t>-&gt; </a:t>
                      </a:r>
                      <a:r>
                        <a:rPr lang="ko-KR" altLang="en-US" dirty="0"/>
                        <a:t>결제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76.8%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095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페이지보기 </a:t>
                      </a:r>
                      <a:r>
                        <a:rPr lang="en-US" altLang="ko-KR" dirty="0"/>
                        <a:t>-&gt; </a:t>
                      </a:r>
                      <a:r>
                        <a:rPr lang="ko-KR" altLang="en-US" dirty="0"/>
                        <a:t>결제 （전체）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1.6%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46637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CBA698A9-E842-4ACE-2569-BF71FD0CEE3B}"/>
              </a:ext>
            </a:extLst>
          </p:cNvPr>
          <p:cNvSpPr/>
          <p:nvPr/>
        </p:nvSpPr>
        <p:spPr>
          <a:xfrm>
            <a:off x="6096001" y="1825625"/>
            <a:ext cx="2821858" cy="366048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F67CC8-F2D2-991D-EBFE-23206EEC1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FACB17-181C-C1F8-DDC7-2CB78510B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91" y="1690688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Bidnamic(2021)</a:t>
            </a:r>
            <a:r>
              <a:rPr lang="ko-KR" altLang="en-US" sz="2000" dirty="0"/>
              <a:t>에 따르면 패션</a:t>
            </a:r>
            <a:r>
              <a:rPr lang="en-US" altLang="ko-KR" sz="2000" dirty="0"/>
              <a:t>·</a:t>
            </a:r>
            <a:r>
              <a:rPr lang="ko-KR" altLang="en-US" sz="2000" dirty="0"/>
              <a:t>액세서리 </a:t>
            </a:r>
            <a:r>
              <a:rPr lang="ko-KR" altLang="en-US" sz="2000" b="1" dirty="0"/>
              <a:t>업계의 평균 </a:t>
            </a:r>
            <a:r>
              <a:rPr lang="ko-KR" altLang="en-US" sz="2000" dirty="0"/>
              <a:t>구매 전환율은 </a:t>
            </a:r>
            <a:r>
              <a:rPr lang="ko-KR" altLang="en-US" sz="2000" b="1" dirty="0"/>
              <a:t>약 </a:t>
            </a:r>
            <a:r>
              <a:rPr lang="en-US" altLang="ko-KR" sz="2000" b="1" dirty="0"/>
              <a:t>2.3</a:t>
            </a:r>
            <a:r>
              <a:rPr lang="en-US" altLang="ko-KR" sz="2000" dirty="0"/>
              <a:t>%</a:t>
            </a:r>
            <a:r>
              <a:rPr lang="ko-KR" altLang="en-US" sz="2000" dirty="0"/>
              <a:t> 수준이다</a:t>
            </a:r>
            <a:r>
              <a:rPr lang="en-US" altLang="ko-KR" sz="2000" dirty="0"/>
              <a:t>. </a:t>
            </a:r>
            <a:r>
              <a:rPr lang="ko-KR" altLang="en-US" sz="2000" dirty="0"/>
              <a:t>해당 사이트의 구매 단계의 전환 효율은 </a:t>
            </a:r>
            <a:r>
              <a:rPr lang="en-US" altLang="ko-KR" sz="2000" b="1" dirty="0"/>
              <a:t>1.6</a:t>
            </a:r>
            <a:r>
              <a:rPr lang="en-US" altLang="ko-KR" sz="2000" dirty="0"/>
              <a:t>%</a:t>
            </a:r>
            <a:r>
              <a:rPr lang="ko-KR" altLang="en-US" sz="2000" dirty="0"/>
              <a:t>로 살짝 낮다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한편</a:t>
            </a:r>
            <a:r>
              <a:rPr lang="en-US" altLang="ko-KR" sz="2000" dirty="0"/>
              <a:t>, Smart Insights</a:t>
            </a:r>
            <a:r>
              <a:rPr lang="ko-KR" altLang="en-US" sz="2000" dirty="0"/>
              <a:t>의 리테일 </a:t>
            </a:r>
            <a:r>
              <a:rPr lang="ko-KR" altLang="en-US" sz="2000" dirty="0" err="1"/>
              <a:t>퍼널</a:t>
            </a:r>
            <a:r>
              <a:rPr lang="ko-KR" altLang="en-US" sz="2000" dirty="0"/>
              <a:t> 분석에서는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전체 세션의 약 </a:t>
            </a:r>
            <a:r>
              <a:rPr lang="en-US" altLang="ko-KR" sz="2000" b="1" dirty="0">
                <a:solidFill>
                  <a:srgbClr val="FF0000"/>
                </a:solidFill>
              </a:rPr>
              <a:t>50</a:t>
            </a:r>
            <a:r>
              <a:rPr lang="en-US" altLang="ko-KR" sz="2000" b="1" dirty="0"/>
              <a:t>%</a:t>
            </a:r>
            <a:r>
              <a:rPr lang="ko-KR" altLang="en-US" sz="2000" dirty="0"/>
              <a:t>가 상품 페이지까지 도달하는 것이 일반적이라고 보고된다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하지만 상품 페이지 </a:t>
            </a:r>
            <a:r>
              <a:rPr lang="ko-KR" altLang="en-US" sz="2000" dirty="0" err="1"/>
              <a:t>도달률은</a:t>
            </a:r>
            <a:r>
              <a:rPr lang="ko-KR" altLang="en-US" sz="2000" dirty="0"/>
              <a:t> </a:t>
            </a:r>
            <a:r>
              <a:rPr lang="en-US" altLang="ko-KR" sz="2000" b="1" dirty="0">
                <a:solidFill>
                  <a:srgbClr val="FF0000"/>
                </a:solidFill>
              </a:rPr>
              <a:t>22.7</a:t>
            </a:r>
            <a:r>
              <a:rPr lang="en-US" altLang="ko-KR" sz="2000" b="1" dirty="0"/>
              <a:t>%</a:t>
            </a:r>
            <a:r>
              <a:rPr lang="ko-KR" altLang="en-US" sz="2000" dirty="0"/>
              <a:t>로 업계 기대치 대비 현저히 낮아</a:t>
            </a:r>
            <a:r>
              <a:rPr lang="en-US" altLang="ko-KR" sz="2000" dirty="0"/>
              <a:t>, </a:t>
            </a:r>
            <a:r>
              <a:rPr lang="ko-KR" altLang="en-US" sz="2000" b="1" dirty="0"/>
              <a:t>상품페이지 </a:t>
            </a:r>
            <a:r>
              <a:rPr lang="ko-KR" altLang="en-US" sz="2000" b="1" dirty="0" err="1"/>
              <a:t>도달률에서의</a:t>
            </a:r>
            <a:r>
              <a:rPr lang="ko-KR" altLang="en-US" sz="2000" b="1" dirty="0"/>
              <a:t> 구조적 개선이 필요하다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87189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5E5F6-2A04-08D9-4B01-2D064BB1B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상품 페이지 </a:t>
            </a:r>
            <a:r>
              <a:rPr lang="ko-KR" altLang="en-US" dirty="0" err="1"/>
              <a:t>도달률</a:t>
            </a:r>
            <a:r>
              <a:rPr lang="ko-KR" altLang="en-US" dirty="0"/>
              <a:t> 개선 방향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FAC672-F667-4F26-187E-A9AA556B6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유입 경로 차이가 있을까</a:t>
            </a:r>
            <a:r>
              <a:rPr lang="en-US" altLang="ko-KR" sz="2000" dirty="0"/>
              <a:t>?</a:t>
            </a:r>
          </a:p>
          <a:p>
            <a:pPr marL="0" indent="0">
              <a:buNone/>
            </a:pPr>
            <a:r>
              <a:rPr lang="ko-KR" altLang="en-US" sz="2000" dirty="0"/>
              <a:t>있다면 해당 유입경로에 대한 개선이 필요</a:t>
            </a:r>
          </a:p>
        </p:txBody>
      </p:sp>
    </p:spTree>
    <p:extLst>
      <p:ext uri="{BB962C8B-B14F-4D97-AF65-F5344CB8AC3E}">
        <p14:creationId xmlns:p14="http://schemas.microsoft.com/office/powerpoint/2010/main" val="2294627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058FD8-2838-4204-1904-91AA262CA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가설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8336DE-7CCA-ECB3-561E-0F2A70E7B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가설 </a:t>
            </a:r>
            <a:r>
              <a:rPr lang="en-US" altLang="ko-KR" sz="2000" dirty="0"/>
              <a:t>: </a:t>
            </a:r>
            <a:r>
              <a:rPr lang="ko-KR" altLang="en-US" sz="2000" dirty="0"/>
              <a:t>유입경로에 따라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상품조회 </a:t>
            </a:r>
            <a:r>
              <a:rPr lang="ko-KR" altLang="en-US" sz="2000" dirty="0" err="1"/>
              <a:t>도달률간</a:t>
            </a:r>
            <a:r>
              <a:rPr lang="ko-KR" altLang="en-US" sz="2000" dirty="0"/>
              <a:t> 차이가 </a:t>
            </a:r>
            <a:r>
              <a:rPr lang="ko-KR" altLang="en-US" sz="2000" dirty="0" err="1"/>
              <a:t>있을것이다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귀무가설 </a:t>
            </a:r>
            <a:r>
              <a:rPr lang="en-US" altLang="ko-KR" sz="2000" dirty="0"/>
              <a:t>:</a:t>
            </a:r>
            <a:r>
              <a:rPr lang="ko-KR" altLang="en-US" sz="2000" dirty="0"/>
              <a:t> 유입경로에 따른 차이는 없다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Vs</a:t>
            </a:r>
          </a:p>
          <a:p>
            <a:pPr marL="0" indent="0">
              <a:buNone/>
            </a:pPr>
            <a:r>
              <a:rPr lang="ko-KR" altLang="en-US" sz="2000" dirty="0"/>
              <a:t>대립가설 </a:t>
            </a:r>
            <a:r>
              <a:rPr lang="en-US" altLang="ko-KR" sz="2000" dirty="0"/>
              <a:t>: </a:t>
            </a:r>
            <a:r>
              <a:rPr lang="ko-KR" altLang="en-US" sz="2000" dirty="0"/>
              <a:t>유입경로에 따른 </a:t>
            </a:r>
            <a:r>
              <a:rPr lang="ko-KR" altLang="en-US" sz="2000" dirty="0" err="1"/>
              <a:t>도달률</a:t>
            </a:r>
            <a:r>
              <a:rPr lang="ko-KR" altLang="en-US" sz="2000" dirty="0"/>
              <a:t> 차이가 있다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1259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500F7F-6C49-37F6-BB50-E636E8EEA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가설 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22FF04-39CC-6364-67EF-E3514C704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기존 사용자별로 집계가 아닌 유입경로별 차이므로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세션별 집계가 옳다 생각함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이전과 같이 </a:t>
            </a:r>
            <a:r>
              <a:rPr lang="en-US" altLang="ko-KR" sz="2000" dirty="0" err="1"/>
              <a:t>page_view</a:t>
            </a:r>
            <a:r>
              <a:rPr lang="ko-KR" altLang="en-US" sz="2000" dirty="0"/>
              <a:t>가 없는데 </a:t>
            </a:r>
            <a:r>
              <a:rPr lang="en-US" altLang="ko-KR" sz="2000" dirty="0" err="1"/>
              <a:t>view_item</a:t>
            </a:r>
            <a:r>
              <a:rPr lang="ko-KR" altLang="en-US" sz="2000" dirty="0"/>
              <a:t>이 </a:t>
            </a:r>
            <a:r>
              <a:rPr lang="ko-KR" altLang="en-US" sz="2000" dirty="0" err="1"/>
              <a:t>있는경우</a:t>
            </a:r>
            <a:r>
              <a:rPr lang="ko-KR" altLang="en-US" sz="2000" dirty="0"/>
              <a:t> 정합성을 위해 앞부분 </a:t>
            </a:r>
            <a:r>
              <a:rPr lang="ko-KR" altLang="en-US" sz="2000" dirty="0" err="1"/>
              <a:t>누적시켜준다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 err="1"/>
              <a:t>샘플데이터이므로</a:t>
            </a:r>
            <a:r>
              <a:rPr lang="ko-KR" altLang="en-US" sz="2000" dirty="0"/>
              <a:t> 삭제되거나 비식별화</a:t>
            </a:r>
            <a:r>
              <a:rPr lang="en-US" altLang="ko-KR" sz="2000" dirty="0"/>
              <a:t>,</a:t>
            </a:r>
            <a:r>
              <a:rPr lang="ko-KR" altLang="en-US" sz="2000" dirty="0"/>
              <a:t>누락된 유입경로는 제외하고 경로가 </a:t>
            </a:r>
            <a:r>
              <a:rPr lang="en-US" altLang="ko-KR" sz="2000" dirty="0"/>
              <a:t>organic, referral, </a:t>
            </a:r>
            <a:r>
              <a:rPr lang="en-US" altLang="ko-KR" sz="2000" dirty="0" err="1"/>
              <a:t>cpc</a:t>
            </a:r>
            <a:r>
              <a:rPr lang="ko-KR" altLang="en-US" sz="2000" dirty="0"/>
              <a:t>인 데이터만 가져옴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66587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54D999-34F8-4131-9D82-AD96CC21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가설검정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9AB19C9-2D12-350B-4C41-9C8BFB6627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1971111"/>
              </p:ext>
            </p:extLst>
          </p:nvPr>
        </p:nvGraphicFramePr>
        <p:xfrm>
          <a:off x="838200" y="1825625"/>
          <a:ext cx="1051559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899">
                  <a:extLst>
                    <a:ext uri="{9D8B030D-6E8A-4147-A177-3AD203B41FA5}">
                      <a16:colId xmlns:a16="http://schemas.microsoft.com/office/drawing/2014/main" val="2270580680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3429642984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2266515216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10111681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유입경로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Page_view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View_item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전환율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02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116,744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25,740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56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Referral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56,719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14,090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24.8%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205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cpc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15,249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3,168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338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643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17409-8E74-7032-875F-59F508732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검정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CD686-907D-7C2A-54B0-885E8DB4A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전체 </a:t>
            </a:r>
            <a:r>
              <a:rPr lang="ko-KR" altLang="en-US" sz="2000" dirty="0" err="1"/>
              <a:t>카이제곱</a:t>
            </a:r>
            <a:r>
              <a:rPr lang="ko-KR" altLang="en-US" sz="2000" dirty="0"/>
              <a:t> 검정 </a:t>
            </a:r>
            <a:r>
              <a:rPr lang="en-US" altLang="ko-KR" sz="2000" dirty="0"/>
              <a:t>p-value: 0.0000000000</a:t>
            </a:r>
          </a:p>
          <a:p>
            <a:pPr marL="0" indent="0">
              <a:buNone/>
            </a:pPr>
            <a:r>
              <a:rPr lang="en-US" altLang="ko-KR" sz="2000" dirty="0"/>
              <a:t>------------------------------</a:t>
            </a:r>
          </a:p>
          <a:p>
            <a:pPr marL="0" indent="0">
              <a:buNone/>
            </a:pPr>
            <a:r>
              <a:rPr lang="en-US" altLang="ko-KR" sz="2000" dirty="0"/>
              <a:t>referral vs organic: p-value = 0.0000000000 (</a:t>
            </a:r>
            <a:r>
              <a:rPr lang="ko-KR" altLang="en-US" sz="2000" dirty="0"/>
              <a:t>유의미함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000" dirty="0"/>
              <a:t>referral vs </a:t>
            </a:r>
            <a:r>
              <a:rPr lang="en-US" altLang="ko-KR" sz="2000" dirty="0" err="1"/>
              <a:t>cpc</a:t>
            </a:r>
            <a:r>
              <a:rPr lang="en-US" altLang="ko-KR" sz="2000" dirty="0"/>
              <a:t>: p-value = 0.0000000000 (</a:t>
            </a:r>
            <a:r>
              <a:rPr lang="ko-KR" altLang="en-US" sz="2000" dirty="0"/>
              <a:t>유의미함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000" dirty="0"/>
              <a:t>organic vs </a:t>
            </a:r>
            <a:r>
              <a:rPr lang="en-US" altLang="ko-KR" sz="2000" dirty="0" err="1"/>
              <a:t>cpc</a:t>
            </a:r>
            <a:r>
              <a:rPr lang="en-US" altLang="ko-KR" sz="2000" dirty="0"/>
              <a:t>: p-value = 0.0003502679 (</a:t>
            </a:r>
            <a:r>
              <a:rPr lang="ko-KR" altLang="en-US" sz="2000" dirty="0"/>
              <a:t>유의미함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유입경로 별 차이는 통계적으로 유의미하다</a:t>
            </a:r>
            <a:r>
              <a:rPr lang="en-US" altLang="ko-KR" sz="2000" dirty="0"/>
              <a:t>.(22%,24%,20%)</a:t>
            </a:r>
          </a:p>
          <a:p>
            <a:pPr marL="0" indent="0">
              <a:buNone/>
            </a:pPr>
            <a:r>
              <a:rPr lang="ko-KR" altLang="en-US" sz="2000" dirty="0"/>
              <a:t>또한</a:t>
            </a:r>
            <a:r>
              <a:rPr lang="en-US" altLang="ko-KR" sz="2000" dirty="0"/>
              <a:t>,</a:t>
            </a:r>
            <a:r>
              <a:rPr lang="ko-KR" altLang="en-US" sz="2000" dirty="0"/>
              <a:t> 유입경로에 상관없이 상품조회 </a:t>
            </a:r>
            <a:r>
              <a:rPr lang="ko-KR" altLang="en-US" sz="2000" dirty="0" err="1"/>
              <a:t>도달률이</a:t>
            </a:r>
            <a:r>
              <a:rPr lang="ko-KR" altLang="en-US" sz="2000" dirty="0"/>
              <a:t> 업계 평균에 미치지 못한다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04953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C5081E-9EB7-23BC-DE7A-459C8D2F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액션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C76285-7663-F397-586D-894089731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3200" b="1" dirty="0"/>
              <a:t>1. </a:t>
            </a:r>
            <a:r>
              <a:rPr lang="ko-KR" altLang="en-US" sz="3200" b="1" dirty="0"/>
              <a:t>랜딩 페이지를 </a:t>
            </a:r>
            <a:r>
              <a:rPr lang="en-US" altLang="ko-KR" sz="3200" b="1" dirty="0"/>
              <a:t>'</a:t>
            </a:r>
            <a:r>
              <a:rPr lang="ko-KR" altLang="en-US" sz="3200" b="1" dirty="0"/>
              <a:t>상품 상세</a:t>
            </a:r>
            <a:r>
              <a:rPr lang="en-US" altLang="ko-KR" sz="3200" b="1" dirty="0"/>
              <a:t>'</a:t>
            </a:r>
            <a:r>
              <a:rPr lang="ko-KR" altLang="en-US" sz="3200" b="1" dirty="0"/>
              <a:t>로 바로 보내기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3200" dirty="0"/>
              <a:t>문제점</a:t>
            </a:r>
            <a:r>
              <a:rPr lang="en-US" altLang="ko-KR" sz="3200" dirty="0"/>
              <a:t>:</a:t>
            </a:r>
            <a:r>
              <a:rPr lang="ko-KR" altLang="en-US" sz="3200" dirty="0"/>
              <a:t> 광고를 클릭했는데 메인 페이지나 전체 목록이 나오면</a:t>
            </a:r>
            <a:r>
              <a:rPr lang="en-US" altLang="ko-KR" sz="3200" dirty="0"/>
              <a:t>, </a:t>
            </a:r>
            <a:r>
              <a:rPr lang="ko-KR" altLang="en-US" sz="3200" dirty="0"/>
              <a:t>고객은 다시 상품을 찾아야 하는 번거로움 때문에 </a:t>
            </a:r>
            <a:r>
              <a:rPr lang="en-US" altLang="ko-KR" sz="3200" dirty="0"/>
              <a:t>"</a:t>
            </a:r>
            <a:r>
              <a:rPr lang="ko-KR" altLang="en-US" sz="3200" dirty="0"/>
              <a:t>내가 찾던 게 아니네</a:t>
            </a:r>
            <a:r>
              <a:rPr lang="en-US" altLang="ko-KR" sz="3200" dirty="0"/>
              <a:t>?" </a:t>
            </a:r>
            <a:r>
              <a:rPr lang="ko-KR" altLang="en-US" sz="3200" dirty="0"/>
              <a:t>하고 바로 나가버리는 경향이 있다</a:t>
            </a:r>
            <a:r>
              <a:rPr lang="en-US" altLang="ko-KR" sz="32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3200" dirty="0"/>
              <a:t>-&gt;</a:t>
            </a:r>
            <a:r>
              <a:rPr lang="ko-KR" altLang="en-US" sz="3200" dirty="0"/>
              <a:t>광고 클릭 시 해당 상품의 상세페이지로 바로 연결시켜 </a:t>
            </a:r>
            <a:r>
              <a:rPr lang="en-US" altLang="ko-KR" sz="3200" dirty="0" err="1"/>
              <a:t>cpc</a:t>
            </a:r>
            <a:r>
              <a:rPr lang="ko-KR" altLang="en-US" sz="3200" dirty="0"/>
              <a:t>의 상품전환율을 높여 구매의욕 증진시킨다</a:t>
            </a:r>
            <a:r>
              <a:rPr lang="en-US" altLang="ko-KR" sz="32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3200" b="1" dirty="0"/>
              <a:t>2. </a:t>
            </a:r>
            <a:r>
              <a:rPr lang="ko-KR" altLang="en-US" sz="3200" b="1" dirty="0"/>
              <a:t>페이지 내 </a:t>
            </a:r>
            <a:r>
              <a:rPr lang="en-US" altLang="ko-KR" sz="3200" b="1" dirty="0"/>
              <a:t>'</a:t>
            </a:r>
            <a:r>
              <a:rPr lang="ko-KR" altLang="en-US" sz="3200" b="1" dirty="0"/>
              <a:t>추천 상품</a:t>
            </a:r>
            <a:r>
              <a:rPr lang="en-US" altLang="ko-KR" sz="3200" b="1" dirty="0"/>
              <a:t>' </a:t>
            </a:r>
            <a:r>
              <a:rPr lang="ko-KR" altLang="en-US" sz="3200" b="1" dirty="0"/>
              <a:t>배치하기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3200" dirty="0"/>
              <a:t>고객이 들어온 상품이 마음에 안 들 수도 있다</a:t>
            </a:r>
            <a:r>
              <a:rPr lang="en-US" altLang="ko-KR" sz="3200" dirty="0"/>
              <a:t>. </a:t>
            </a:r>
            <a:r>
              <a:rPr lang="ko-KR" altLang="en-US" sz="3200" dirty="0"/>
              <a:t>그때 다른 대안을 보여주어 사이트 체류 시간을 늘릴 수 있다</a:t>
            </a:r>
            <a:r>
              <a:rPr lang="en-US" altLang="ko-KR" sz="32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3200" dirty="0"/>
              <a:t>연관 상품 </a:t>
            </a:r>
            <a:r>
              <a:rPr lang="en-US" altLang="ko-KR" sz="3200" dirty="0"/>
              <a:t>: </a:t>
            </a:r>
            <a:r>
              <a:rPr lang="ko-KR" altLang="en-US" sz="3200" dirty="0"/>
              <a:t>보고 있는 상품과 함께 사용하면 좋은 소품이나 세트 아이템을 추천한다</a:t>
            </a:r>
            <a:r>
              <a:rPr lang="en-US" altLang="ko-KR" sz="32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32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sz="3200" dirty="0"/>
          </a:p>
          <a:p>
            <a:pPr marL="0" lvl="0" indent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ko-KR" sz="3200" b="1" dirty="0"/>
              <a:t>3. 상품 페이지 </a:t>
            </a:r>
            <a:r>
              <a:rPr lang="ko-KR" altLang="ko-KR" sz="3200" b="1" dirty="0" err="1"/>
              <a:t>도달률</a:t>
            </a:r>
            <a:r>
              <a:rPr lang="ko-KR" altLang="ko-KR" sz="3200" b="1" dirty="0"/>
              <a:t> 제고를 위한 제품 경쟁력 및 기획 개선</a:t>
            </a:r>
          </a:p>
          <a:p>
            <a:pPr marL="0" lvl="0" indent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ko-KR" sz="3200" dirty="0"/>
              <a:t>상품 페이지 </a:t>
            </a:r>
            <a:r>
              <a:rPr lang="ko-KR" altLang="ko-KR" sz="3200" dirty="0" err="1"/>
              <a:t>도달률이</a:t>
            </a:r>
            <a:r>
              <a:rPr lang="ko-KR" altLang="ko-KR" sz="3200" dirty="0"/>
              <a:t> 업계 평균</a:t>
            </a:r>
            <a:r>
              <a:rPr lang="en-US" altLang="ko-KR" sz="3200" dirty="0"/>
              <a:t>50%</a:t>
            </a:r>
            <a:r>
              <a:rPr lang="ko-KR" altLang="ko-KR" sz="3200" dirty="0"/>
              <a:t>의 절반에도 못 미치는 22.7%라는 수치는 마케팅의 문제를 넘어 </a:t>
            </a:r>
            <a:endParaRPr lang="en-US" altLang="ko-KR" sz="3200" dirty="0"/>
          </a:p>
          <a:p>
            <a:pPr marL="0" lvl="0" indent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ko-KR" sz="3200" dirty="0"/>
              <a:t>상품 자체의 시장성(</a:t>
            </a:r>
            <a:r>
              <a:rPr lang="ko-KR" altLang="ko-KR" sz="3200" dirty="0" err="1"/>
              <a:t>Product</a:t>
            </a:r>
            <a:r>
              <a:rPr lang="ko-KR" altLang="ko-KR" sz="3200" dirty="0"/>
              <a:t>-Market </a:t>
            </a:r>
            <a:r>
              <a:rPr lang="ko-KR" altLang="ko-KR" sz="3200" dirty="0" err="1"/>
              <a:t>Fit</a:t>
            </a:r>
            <a:r>
              <a:rPr lang="ko-KR" altLang="ko-KR" sz="3200" dirty="0"/>
              <a:t>)'이 부족</a:t>
            </a:r>
            <a:r>
              <a:rPr lang="ko-KR" altLang="en-US" sz="3200" dirty="0"/>
              <a:t>한 것일 수 있다</a:t>
            </a:r>
            <a:r>
              <a:rPr lang="en-US" altLang="ko-KR" sz="3200" dirty="0"/>
              <a:t>,</a:t>
            </a:r>
          </a:p>
          <a:p>
            <a:pPr marL="0" lvl="0" indent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ko-KR" sz="3200" dirty="0"/>
              <a:t>고객이 유입된 직후 바로 이탈하는 현상을 막기 위해 제품 단에서의 근본적인 혁신이 필요</a:t>
            </a:r>
            <a:r>
              <a:rPr lang="ko-KR" altLang="en-US" sz="3200" dirty="0"/>
              <a:t>하다</a:t>
            </a:r>
            <a:r>
              <a:rPr lang="ko-KR" altLang="ko-KR" sz="32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3538171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719</Words>
  <Application>Microsoft Office PowerPoint</Application>
  <PresentationFormat>와이드스크린</PresentationFormat>
  <Paragraphs>126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맑은 고딕</vt:lpstr>
      <vt:lpstr>Arial</vt:lpstr>
      <vt:lpstr>Office 테마</vt:lpstr>
      <vt:lpstr>이커머스 로그데이터를 통한 퍼널 분석</vt:lpstr>
      <vt:lpstr>분석 배경</vt:lpstr>
      <vt:lpstr>데이터</vt:lpstr>
      <vt:lpstr>웹사이트 구매 과정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8. 최종구매 버튼 누르기</vt:lpstr>
      <vt:lpstr>퍼널 정의</vt:lpstr>
      <vt:lpstr>데이터 전처리</vt:lpstr>
      <vt:lpstr>분석 결과</vt:lpstr>
      <vt:lpstr>분석 결과</vt:lpstr>
      <vt:lpstr>분석 결과</vt:lpstr>
      <vt:lpstr>상품 페이지 도달률 개선 방향</vt:lpstr>
      <vt:lpstr>가설 설정</vt:lpstr>
      <vt:lpstr>가설 검정</vt:lpstr>
      <vt:lpstr>가설검정</vt:lpstr>
      <vt:lpstr>검정 결과</vt:lpstr>
      <vt:lpstr>액션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장태중</dc:creator>
  <cp:lastModifiedBy>장태중</cp:lastModifiedBy>
  <cp:revision>127</cp:revision>
  <dcterms:created xsi:type="dcterms:W3CDTF">2026-01-22T00:58:53Z</dcterms:created>
  <dcterms:modified xsi:type="dcterms:W3CDTF">2026-01-22T04:51:22Z</dcterms:modified>
</cp:coreProperties>
</file>